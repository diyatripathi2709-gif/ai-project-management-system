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Quarterly Revenue vs. Target (₹Cr)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C9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9.6</c:v>
                </c:pt>
                <c:pt idx="2">
                  <c:v>11.1</c:v>
                </c:pt>
                <c:pt idx="3">
                  <c:v>13.4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(₹Cr)</c:v>
                </c:pt>
              </c:strCache>
            </c:strRef>
          </c:tx>
          <c:spPr>
            <a:solidFill>
              <a:srgbClr val="E8E4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10.5</c:v>
                </c:pt>
                <c:pt idx="2">
                  <c:v>11.5</c:v>
                </c:pt>
                <c:pt idx="3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96E"/>
              </a:solidFill>
              <a:effectLst/>
            </c:spPr>
          </c:dPt>
          <c:dPt>
            <c:idx val="1"/>
            <c:bubble3D val="0"/>
            <c:spPr>
              <a:solidFill>
                <a:srgbClr val="2D6A6A"/>
              </a:solidFill>
              <a:effectLst/>
            </c:spPr>
          </c:dPt>
          <c:dPt>
            <c:idx val="2"/>
            <c:bubble3D val="0"/>
            <c:spPr>
              <a:solidFill>
                <a:srgbClr val="8B6F47"/>
              </a:solidFill>
              <a:effectLst/>
            </c:spPr>
          </c:dPt>
          <c:dPt>
            <c:idx val="3"/>
            <c:bubble3D val="0"/>
            <c:spPr>
              <a:solidFill>
                <a:srgbClr val="4A7C59"/>
              </a:solidFill>
              <a:effectLst/>
            </c:spPr>
          </c:dPt>
          <c:dPt>
            <c:idx val="4"/>
            <c:bubble3D val="0"/>
            <c:spPr>
              <a:solidFill>
                <a:srgbClr val="E8E4D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Women's</c:v>
                </c:pt>
                <c:pt idx="1">
                  <c:v>Men's</c:v>
                </c:pt>
                <c:pt idx="2">
                  <c:v>Accessories</c:v>
                </c:pt>
                <c:pt idx="3">
                  <c:v>Kids</c:v>
                </c:pt>
                <c:pt idx="4">
                  <c:v>Active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</c:v>
                </c:pt>
                <c:pt idx="1">
                  <c:v>27</c:v>
                </c:pt>
                <c:pt idx="2">
                  <c:v>14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Monthly Revenue Trend — FY2025 (₹ Lakhs)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(₹L)</c:v>
                </c:pt>
              </c:strCache>
            </c:strRef>
          </c:tx>
          <c:spPr>
            <a:solidFill>
              <a:srgbClr val="C9A96E"/>
            </a:solidFill>
            <a:ln w="3810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</c:v>
                </c:pt>
                <c:pt idx="1">
                  <c:v>195</c:v>
                </c:pt>
                <c:pt idx="2">
                  <c:v>248</c:v>
                </c:pt>
                <c:pt idx="3">
                  <c:v>302</c:v>
                </c:pt>
                <c:pt idx="4">
                  <c:v>285</c:v>
                </c:pt>
                <c:pt idx="5">
                  <c:v>265</c:v>
                </c:pt>
                <c:pt idx="6">
                  <c:v>290</c:v>
                </c:pt>
                <c:pt idx="7">
                  <c:v>310</c:v>
                </c:pt>
                <c:pt idx="8">
                  <c:v>388</c:v>
                </c:pt>
                <c:pt idx="9">
                  <c:v>520</c:v>
                </c:pt>
                <c:pt idx="10">
                  <c:v>680</c:v>
                </c:pt>
                <c:pt idx="11">
                  <c:v>745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Top Categories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C9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9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6F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4A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3A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Ethnic Wear</c:v>
                  </c:pt>
                  <c:pt idx="1">
                    <c:v>Western Wear</c:v>
                  </c:pt>
                  <c:pt idx="2">
                    <c:v>Denim</c:v>
                  </c:pt>
                  <c:pt idx="3">
                    <c:v>Accessories</c:v>
                  </c:pt>
                  <c:pt idx="4">
                    <c:v>Athleisure</c:v>
                  </c:pt>
                  <c:pt idx="5">
                    <c:v>Formal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10.8</c:v>
                </c:pt>
                <c:pt idx="1">
                  <c:v>9.2</c:v>
                </c:pt>
                <c:pt idx="2">
                  <c:v>7.6</c:v>
                </c:pt>
                <c:pt idx="3">
                  <c:v>5.9</c:v>
                </c:pt>
                <c:pt idx="4">
                  <c:v>4.8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Quarterly Revenue Growth (₹Cr) — FY24 vs FY25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2D6A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FY24</c:v>
                  </c:pt>
                  <c:pt idx="1">
                    <c:v>Q2 FY24</c:v>
                  </c:pt>
                  <c:pt idx="2">
                    <c:v>Q3 FY24</c:v>
                  </c:pt>
                  <c:pt idx="3">
                    <c:v>Q4 FY24</c:v>
                  </c:pt>
                  <c:pt idx="4">
                    <c:v>Q1 FY25</c:v>
                  </c:pt>
                  <c:pt idx="5">
                    <c:v>Q2 FY25</c:v>
                  </c:pt>
                  <c:pt idx="6">
                    <c:v>Q3 FY25</c:v>
                  </c:pt>
                  <c:pt idx="7">
                    <c:v>Q4 FY25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5.8</c:v>
                </c:pt>
                <c:pt idx="1">
                  <c:v>6.4</c:v>
                </c:pt>
                <c:pt idx="2">
                  <c:v>7.8</c:v>
                </c:pt>
                <c:pt idx="3">
                  <c:v>10.6</c:v>
                </c:pt>
                <c:pt idx="4">
                  <c:v>8.2</c:v>
                </c:pt>
                <c:pt idx="5">
                  <c:v>9.6</c:v>
                </c:pt>
                <c:pt idx="6">
                  <c:v>11.1</c:v>
                </c:pt>
                <c:pt idx="7">
                  <c:v>13.4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Age Distribution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C9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18-22</c:v>
                  </c:pt>
                  <c:pt idx="1">
                    <c:v>23-27</c:v>
                  </c:pt>
                  <c:pt idx="2">
                    <c:v>28-32</c:v>
                  </c:pt>
                  <c:pt idx="3">
                    <c:v>33-37</c:v>
                  </c:pt>
                  <c:pt idx="4">
                    <c:v>38-45</c:v>
                  </c:pt>
                  <c:pt idx="5">
                    <c:v>45+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34</c:v>
                </c:pt>
                <c:pt idx="2">
                  <c:v>28</c:v>
                </c:pt>
                <c:pt idx="3">
                  <c:v>10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Gender Split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4A5C"/>
              </a:solidFill>
              <a:effectLst/>
            </c:spPr>
          </c:dPt>
          <c:dPt>
            <c:idx val="1"/>
            <c:bubble3D val="0"/>
            <c:spPr>
              <a:solidFill>
                <a:srgbClr val="2D6A6A"/>
              </a:solidFill>
              <a:effectLst/>
            </c:spPr>
          </c:dPt>
          <c:dPt>
            <c:idx val="2"/>
            <c:bubble3D val="0"/>
            <c:spPr>
              <a:solidFill>
                <a:srgbClr val="C9A9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67</c:v>
                </c:pt>
                <c:pt idx="1">
                  <c:v>30</c:v>
                </c:pt>
                <c:pt idx="2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Cohort Retention Curve (Jan vs Jul Cohorts)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 0</c:v>
                </c:pt>
              </c:strCache>
            </c:strRef>
          </c:tx>
          <c:spPr>
            <a:solidFill>
              <a:srgbClr val="C9A96E"/>
            </a:solidFill>
            <a:ln w="3175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52</c:v>
                </c:pt>
                <c:pt idx="2">
                  <c:v>38</c:v>
                </c:pt>
                <c:pt idx="3">
                  <c:v>30</c:v>
                </c:pt>
                <c:pt idx="4">
                  <c:v>26</c:v>
                </c:pt>
                <c:pt idx="5">
                  <c:v>22</c:v>
                </c:pt>
                <c:pt idx="6">
                  <c:v>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 6</c:v>
                </c:pt>
              </c:strCache>
            </c:strRef>
          </c:tx>
          <c:spPr>
            <a:solidFill>
              <a:srgbClr val="2D6A6A"/>
            </a:solidFill>
            <a:ln w="31750" cap="flat">
              <a:solidFill>
                <a:srgbClr val="2D6A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6A"/>
              </a:solidFill>
              <a:ln w="9525" cap="flat">
                <a:solidFill>
                  <a:srgbClr val="2D6A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58</c:v>
                </c:pt>
                <c:pt idx="2">
                  <c:v>44</c:v>
                </c:pt>
                <c:pt idx="3">
                  <c:v>36</c:v>
                </c:pt>
                <c:pt idx="4">
                  <c:v>31</c:v>
                </c:pt>
                <c:pt idx="5">
                  <c:v>27</c:v>
                </c:pt>
                <c:pt idx="6">
                  <c:v>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Purchase Frequency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Freq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3A3A"/>
              </a:solidFill>
              <a:effectLst/>
            </c:spPr>
          </c:dPt>
          <c:dPt>
            <c:idx val="1"/>
            <c:bubble3D val="0"/>
            <c:spPr>
              <a:solidFill>
                <a:srgbClr val="8B6F47"/>
              </a:solidFill>
              <a:effectLst/>
            </c:spPr>
          </c:dPt>
          <c:dPt>
            <c:idx val="2"/>
            <c:bubble3D val="0"/>
            <c:spPr>
              <a:solidFill>
                <a:srgbClr val="C9A96E"/>
              </a:solidFill>
              <a:effectLst/>
            </c:spPr>
          </c:dPt>
          <c:dPt>
            <c:idx val="3"/>
            <c:bubble3D val="0"/>
            <c:spPr>
              <a:solidFill>
                <a:srgbClr val="4A7C59"/>
              </a:solidFill>
              <a:effectLst/>
            </c:spPr>
          </c:dPt>
          <c:dPt>
            <c:idx val="4"/>
            <c:bubble3D val="0"/>
            <c:spPr>
              <a:solidFill>
                <a:srgbClr val="2D6A6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1× (New)</c:v>
                </c:pt>
                <c:pt idx="1">
                  <c:v>2-3×</c:v>
                </c:pt>
                <c:pt idx="2">
                  <c:v>4-6×</c:v>
                </c:pt>
                <c:pt idx="3">
                  <c:v>7-12×</c:v>
                </c:pt>
                <c:pt idx="4">
                  <c:v>12× + 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59</c:v>
                </c:pt>
                <c:pt idx="1">
                  <c:v>21</c:v>
                </c:pt>
                <c:pt idx="2">
                  <c:v>11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ROAS by Marketing Channel (×)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C9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9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4A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6F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6A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3A3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Email</c:v>
                  </c:pt>
                  <c:pt idx="1">
                    <c:v>SEO/Organic</c:v>
                  </c:pt>
                  <c:pt idx="2">
                    <c:v>Influencer</c:v>
                  </c:pt>
                  <c:pt idx="3">
                    <c:v>Meta Ads</c:v>
                  </c:pt>
                  <c:pt idx="4">
                    <c:v>Google Ads</c:v>
                  </c:pt>
                  <c:pt idx="5">
                    <c:v>WhatsApp</c:v>
                  </c:pt>
                  <c:pt idx="6">
                    <c:v>YouTube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6.8</c:v>
                </c:pt>
                <c:pt idx="1">
                  <c:v>5.9</c:v>
                </c:pt>
                <c:pt idx="2">
                  <c:v>4.2</c:v>
                </c:pt>
                <c:pt idx="3">
                  <c:v>2.8</c:v>
                </c:pt>
                <c:pt idx="4">
                  <c:v>3.1</c:v>
                </c:pt>
                <c:pt idx="5">
                  <c:v>5.5</c:v>
                </c:pt>
                <c:pt idx="6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Spend vs Revenue (₹L)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 (₹L)</c:v>
                </c:pt>
              </c:strCache>
            </c:strRef>
          </c:tx>
          <c:spPr>
            <a:solidFill>
              <a:srgbClr val="8B3A3A"/>
            </a:solidFill>
            <a:ln w="25400" cap="flat">
              <a:solidFill>
                <a:srgbClr val="8B3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3A3A"/>
              </a:solidFill>
              <a:ln w="9525" cap="flat">
                <a:solidFill>
                  <a:srgbClr val="8B3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</c:v>
                </c:pt>
                <c:pt idx="1">
                  <c:v>25</c:v>
                </c:pt>
                <c:pt idx="2">
                  <c:v>32</c:v>
                </c:pt>
                <c:pt idx="3">
                  <c:v>38</c:v>
                </c:pt>
                <c:pt idx="4">
                  <c:v>35</c:v>
                </c:pt>
                <c:pt idx="5">
                  <c:v>30</c:v>
                </c:pt>
                <c:pt idx="6">
                  <c:v>34</c:v>
                </c:pt>
                <c:pt idx="7">
                  <c:v>40</c:v>
                </c:pt>
                <c:pt idx="8">
                  <c:v>55</c:v>
                </c:pt>
                <c:pt idx="9">
                  <c:v>85</c:v>
                </c:pt>
                <c:pt idx="10">
                  <c:v>120</c:v>
                </c:pt>
                <c:pt idx="11">
                  <c:v>130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C9A96E"/>
            </a:solidFill>
            <a:ln w="2540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</c:v>
                </c:pt>
                <c:pt idx="1">
                  <c:v>52</c:v>
                </c:pt>
                <c:pt idx="2">
                  <c:v>72</c:v>
                </c:pt>
                <c:pt idx="3">
                  <c:v>96</c:v>
                </c:pt>
                <c:pt idx="4">
                  <c:v>88</c:v>
                </c:pt>
                <c:pt idx="5">
                  <c:v>76</c:v>
                </c:pt>
                <c:pt idx="6">
                  <c:v>84</c:v>
                </c:pt>
                <c:pt idx="7">
                  <c:v>104</c:v>
                </c:pt>
                <c:pt idx="8">
                  <c:v>148</c:v>
                </c:pt>
                <c:pt idx="9">
                  <c:v>228</c:v>
                </c:pt>
                <c:pt idx="10">
                  <c:v>340</c:v>
                </c:pt>
                <c:pt idx="11">
                  <c:v>382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Inventory Turnover Ratio by Category (Annual)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Turns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9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9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6F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3A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3A3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Athleisure</c:v>
                  </c:pt>
                  <c:pt idx="1">
                    <c:v>Accessories</c:v>
                  </c:pt>
                  <c:pt idx="2">
                    <c:v>Western Wear</c:v>
                  </c:pt>
                  <c:pt idx="3">
                    <c:v>Ethnic Wear</c:v>
                  </c:pt>
                  <c:pt idx="4">
                    <c:v>Denim</c:v>
                  </c:pt>
                  <c:pt idx="5">
                    <c:v>Formal</c:v>
                  </c:pt>
                  <c:pt idx="6">
                    <c:v>Kids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8.8</c:v>
                </c:pt>
                <c:pt idx="1">
                  <c:v>7.4</c:v>
                </c:pt>
                <c:pt idx="2">
                  <c:v>6.9</c:v>
                </c:pt>
                <c:pt idx="3">
                  <c:v>5.8</c:v>
                </c:pt>
                <c:pt idx="4">
                  <c:v>5.2</c:v>
                </c:pt>
                <c:pt idx="5">
                  <c:v>3.4</c:v>
                </c:pt>
                <c:pt idx="6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Stock Health Distribution (% of SKUs)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7C59"/>
              </a:solidFill>
              <a:effectLst/>
            </c:spPr>
          </c:dPt>
          <c:dPt>
            <c:idx val="1"/>
            <c:bubble3D val="0"/>
            <c:spPr>
              <a:solidFill>
                <a:srgbClr val="C9A96E"/>
              </a:solidFill>
              <a:effectLst/>
            </c:spPr>
          </c:dPt>
          <c:dPt>
            <c:idx val="2"/>
            <c:bubble3D val="0"/>
            <c:spPr>
              <a:solidFill>
                <a:srgbClr val="8B6F47"/>
              </a:solidFill>
              <a:effectLst/>
            </c:spPr>
          </c:dPt>
          <c:dPt>
            <c:idx val="3"/>
            <c:bubble3D val="0"/>
            <c:spPr>
              <a:solidFill>
                <a:srgbClr val="8B3A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Fast Movers</c:v>
                </c:pt>
                <c:pt idx="1">
                  <c:v>Normal Velocity</c:v>
                </c:pt>
                <c:pt idx="2">
                  <c:v>Slow Movers</c:v>
                </c:pt>
                <c:pt idx="3">
                  <c:v>Dead Stock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</c:v>
                </c:pt>
                <c:pt idx="1">
                  <c:v>37</c:v>
                </c:pt>
                <c:pt idx="2">
                  <c:v>7</c:v>
                </c:pt>
                <c:pt idx="3">
                  <c:v>34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Revenue &amp; Growth by City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C9A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26.2</c:v>
                </c:pt>
                <c:pt idx="1">
                  <c:v>10.8</c:v>
                </c:pt>
                <c:pt idx="2">
                  <c:v>3.9</c:v>
                </c:pt>
                <c:pt idx="3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 YoY (%)</c:v>
                </c:pt>
              </c:strCache>
            </c:strRef>
          </c:tx>
          <c:spPr>
            <a:solidFill>
              <a:srgbClr val="2D6A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4+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58</c:v>
                </c:pt>
                <c:pt idx="2">
                  <c:v>82</c:v>
                </c:pt>
                <c:pt idx="3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0A0A"/>
                </a:solidFill>
                <a:latin typeface="Arial"/>
              </a:rPr>
              <a:t>AI Revenue Forecast — FY2026 (₹Crore, 95% CI)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spPr>
            <a:solidFill>
              <a:srgbClr val="2D6A6A"/>
            </a:solidFill>
            <a:ln w="31750" cap="flat">
              <a:solidFill>
                <a:srgbClr val="2D6A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6A"/>
              </a:solidFill>
              <a:ln w="9525" cap="flat">
                <a:solidFill>
                  <a:srgbClr val="2D6A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8.2</c:v>
                </c:pt>
                <c:pt idx="1">
                  <c:v>9.6</c:v>
                </c:pt>
                <c:pt idx="2">
                  <c:v>11.1</c:v>
                </c:pt>
                <c:pt idx="3">
                  <c:v>13.4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Forecast</c:v>
                </c:pt>
              </c:strCache>
            </c:strRef>
          </c:tx>
          <c:spPr>
            <a:solidFill>
              <a:srgbClr val="C9A96E"/>
            </a:solidFill>
            <a:ln w="3175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13.4</c:v>
                </c:pt>
                <c:pt idx="4">
                  <c:v>15.2</c:v>
                </c:pt>
                <c:pt idx="5">
                  <c:v>17.8</c:v>
                </c:pt>
                <c:pt idx="6">
                  <c:v>21</c:v>
                </c:pt>
                <c:pt idx="7">
                  <c:v>26.5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 (95%CI)</c:v>
                </c:pt>
              </c:strCache>
            </c:strRef>
          </c:tx>
          <c:spPr>
            <a:solidFill>
              <a:srgbClr val="E8E4DF"/>
            </a:solidFill>
            <a:ln w="31750" cap="flat">
              <a:solidFill>
                <a:srgbClr val="E8E4D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E4DF"/>
              </a:solidFill>
              <a:ln w="9525" cap="flat">
                <a:solidFill>
                  <a:srgbClr val="E8E4D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13.4</c:v>
                </c:pt>
                <c:pt idx="4">
                  <c:v>16.8</c:v>
                </c:pt>
                <c:pt idx="5">
                  <c:v>19.6</c:v>
                </c:pt>
                <c:pt idx="6">
                  <c:v>23.4</c:v>
                </c:pt>
                <c:pt idx="7">
                  <c:v>29.2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 (95%CI)</c:v>
                </c:pt>
              </c:strCache>
            </c:strRef>
          </c:tx>
          <c:spPr>
            <a:solidFill>
              <a:srgbClr val="E8E4DF"/>
            </a:solidFill>
            <a:ln w="31750" cap="flat">
              <a:solidFill>
                <a:srgbClr val="E8E4D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E4DF"/>
              </a:solidFill>
              <a:ln w="9525" cap="flat">
                <a:solidFill>
                  <a:srgbClr val="E8E4D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13.4</c:v>
                </c:pt>
                <c:pt idx="4">
                  <c:v>13.8</c:v>
                </c:pt>
                <c:pt idx="5">
                  <c:v>16</c:v>
                </c:pt>
                <c:pt idx="6">
                  <c:v>18.6</c:v>
                </c:pt>
                <c:pt idx="7">
                  <c:v>23.8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548640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E8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Fashion Meets 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286000" cy="27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847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011680" cy="1828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</a:rPr>
              <a:t>Fashion Ecommerce  ·  Data Analytics  ·  Strategic Insights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</a:rPr>
              <a:t>FY 2024–2025  | 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Prepared by StyleNest Analytics Division  |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228600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371600" cy="27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00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Business Overview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48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048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496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496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Business Objectives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Dataset Architecture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3924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392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Dashboard Design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KPI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288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42885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Sales Analytics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640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Customer Analytics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1024128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15968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Marketing Analytics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1554480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17007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15968" y="1700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Inventory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084832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2231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15968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Geographic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2615184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15968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&amp; Forecasting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145536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15968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DAX Measures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3675888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15968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SWOT &amp; Strategy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4206240"/>
            <a:ext cx="493776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43525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15968" y="4352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Roadmap &amp; 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 · Mission &amp; Vision · Business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4114800" cy="356616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STYLENEST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🏷️  Premium D2C Fashion Ecommerce Brand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74904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12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📍  Headquartered in Mumbai, India — Serving Pan-India &amp; GCC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374904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42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👥  Target: Urban millennials &amp; Gen-Z, Ages 18–35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374904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723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📦  Curated collections: Women's, Men's &amp; Accessories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374904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🚀  Founded 2021 | GMV ₹42 Crore | 180K+ Active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22192"/>
            <a:ext cx="3749040" cy="91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F"/>
                </a:solidFill>
              </a:rPr>
              <a:t>🌐  Mobile-first omnichannel: App, Web &amp; Social Commerce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14300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143000"/>
            <a:ext cx="73152" cy="107899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E"/>
                </a:solidFill>
              </a:rPr>
              <a:t>MISSION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14904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Democratise premium fashion for the aspirational Indian consumer — quality, style &amp; trust at every price point.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331720"/>
            <a:ext cx="73152" cy="1078992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A6A"/>
                </a:solidFill>
              </a:rPr>
              <a:t>VISION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26791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Become India's #1 data-driven fashion platform by 2027, serving 2 million customers across 500+ cities.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520440"/>
            <a:ext cx="73152" cy="1078992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6F47"/>
                </a:solidFill>
              </a:rPr>
              <a:t>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6592" y="3867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D2C · Marketplace · Private Label · Subscription (StyleBox) · Influencer Commerce · B2B Wholesale.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Facing StyleNest in the Fashion Ecommerce Landscape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206240" cy="64008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25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Customer Retention Crisis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59105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590"/>
                </a:solidFill>
              </a:rPr>
              <a:t>1-Year Churn Rate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90472" y="1645920"/>
            <a:ext cx="18288" cy="7315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3" name="Text 11"/>
          <p:cNvSpPr/>
          <p:nvPr/>
        </p:nvSpPr>
        <p:spPr>
          <a:xfrm>
            <a:off x="1618488" y="1591056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Over two-thirds of first-time buyers never return. CAC averages ₹380 yet LTV barely exceeds ₹900, making the economics unsustainable without improved retention.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206240" cy="6400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25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Inventory Inefficiency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159105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18888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590"/>
                </a:solidFill>
              </a:rPr>
              <a:t>Dead Stock Ratio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71032" y="1645920"/>
            <a:ext cx="18288" cy="7315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1591056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34% of SKUs contribute &lt;2% revenue. Seasonal overstocking ties up ₹6Cr of working capital while bestsellers stock out within 72 hours of launch.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03580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35808"/>
            <a:ext cx="4206240" cy="64008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145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Seasonal Demand Volatility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" y="351129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3.8×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590"/>
                </a:solidFill>
              </a:rPr>
              <a:t>Peak-to-Trough Ratio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490472" y="3566160"/>
            <a:ext cx="18288" cy="7315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9" name="Text 27"/>
          <p:cNvSpPr/>
          <p:nvPr/>
        </p:nvSpPr>
        <p:spPr>
          <a:xfrm>
            <a:off x="1618488" y="3511296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Festive season demand spikes 380% versus off-season lows. Forecasting models fail to account for regional &amp; cultural event-driven demand patterns.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03580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35808"/>
            <a:ext cx="4206240" cy="64008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145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Marketing ROI Erosion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351129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₹2.1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818888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590"/>
                </a:solidFill>
              </a:rPr>
              <a:t>Return per ₹1 Spent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971032" y="3566160"/>
            <a:ext cx="18288" cy="7315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7" name="Text 35"/>
          <p:cNvSpPr/>
          <p:nvPr/>
        </p:nvSpPr>
        <p:spPr>
          <a:xfrm>
            <a:off x="6099048" y="3511296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Blended marketing ROI has declined 40% YoY as Meta &amp; Google CPMs rise. Influencer campaigns show 5× variance in ROAS with no attribution clarity.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 Driving the Analytics Initiative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73152" cy="18745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📈  Revenue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207008"/>
            <a:ext cx="1234440" cy="4754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+45%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14904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GMV Target: ₹61 Cr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93192" y="1600200"/>
            <a:ext cx="384048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682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Upsell &amp; cross-sell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048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Bundle pricing strategy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414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Tier-2 city expansion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73152" cy="1874520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🔁  Customer Retention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207008"/>
            <a:ext cx="1234440" cy="475488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14904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Retention Rate Target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873752" y="1600200"/>
            <a:ext cx="384048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1682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Loyalty programme launch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0328" y="2048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Personalised re-engagement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0328" y="2414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StyleBox subscription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090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090672"/>
            <a:ext cx="73152" cy="187452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182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📦  Inventory Optimisation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63240" y="3200400"/>
            <a:ext cx="1234440" cy="475488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3200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&lt;10%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17520" y="3483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Dead Stock Ratio Target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93192" y="3593592"/>
            <a:ext cx="384048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Demand-driven replenishment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Dynamic pricing on slow SKUs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Vendor lead-time reduction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09067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90672"/>
            <a:ext cx="73152" cy="1874520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182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🎯  Marketing ROI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43800" y="3200400"/>
            <a:ext cx="1234440" cy="475488"/>
          </a:xfrm>
          <a:prstGeom prst="rect">
            <a:avLst/>
          </a:prstGeom>
          <a:solidFill>
            <a:srgbClr val="7C4A5C"/>
          </a:solidFill>
          <a:ln w="12700">
            <a:solidFill>
              <a:srgbClr val="7C4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3200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4.5×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98080" y="3483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Blended ROAS Target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873752" y="3593592"/>
            <a:ext cx="384048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43" name="Text 41"/>
          <p:cNvSpPr/>
          <p:nvPr/>
        </p:nvSpPr>
        <p:spPr>
          <a:xfrm>
            <a:off x="4910328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Channel attribution model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10328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Influencer performance tiers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0328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→  Programmatic retargeting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Interconnected Tables Powering the StyleNest BI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2834640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</a:rPr>
              <a:t>285K rows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" y="166420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OrderID · CustomerID · Date · SKU · Qty · Revenue · Discount · Channel · Status · ReturnFlag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15568"/>
            <a:ext cx="2834640" cy="384048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463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6A6A"/>
                </a:solidFill>
              </a:rPr>
              <a:t>180K rows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CustomerID · Name · Age · Gender · City · Tier · SignupDate · CLV · Segment · LastPurchase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72200" y="111556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15568"/>
            <a:ext cx="2834640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6281928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1928" y="1463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7C59"/>
                </a:solidFill>
              </a:rPr>
              <a:t>4,200 SKUs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81928" y="166420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ProductID · Name · Category · SubCat · Brand · CostPrice · MRP · Season · Rating · Tags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8600" y="308152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81528"/>
            <a:ext cx="2834640" cy="38404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47"/>
                </a:solidFill>
              </a:rPr>
              <a:t>Daily snapshots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8328" y="36301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SKU · WarehouseID · StockQty · ReorderLevel · LeadDays · TurnoverRate · DeadStockFlag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81528"/>
            <a:ext cx="2834640" cy="384048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4A5C"/>
                </a:solidFill>
              </a:rPr>
              <a:t>360 campaigns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10128" y="36301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CampaignID · Channel · StartDate · Spend · Impressions · Clicks · Orders · ROAS · Influencer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72200" y="3081528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081528"/>
            <a:ext cx="2834640" cy="384048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281928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3A3A"/>
                </a:solidFill>
              </a:rPr>
              <a:t>28 states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81928" y="36301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RegionID · State · City · Tier · Orders · Revenue · ReturnRate · AvgAOV · PopulationIndex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4617720"/>
            <a:ext cx="8686800" cy="457200"/>
          </a:xfrm>
          <a:prstGeom prst="rect">
            <a:avLst/>
          </a:prstGeom>
          <a:solidFill>
            <a:srgbClr val="5C4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6908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D5B0"/>
                </a:solidFill>
              </a:rPr>
              <a:t>💡 Star Schema design: Orders as Fact table + 5 Dimension tables. Optimized for Power BI DirectQuery with 3M+ daily refresh rows.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Filters · Drill-Through · Bookmarks · Interactive UX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1828800" cy="822960"/>
          </a:xfrm>
          <a:prstGeom prst="rect">
            <a:avLst/>
          </a:prstGeom>
          <a:solidFill>
            <a:srgbClr val="C9A96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89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188720"/>
            <a:ext cx="1828800" cy="822960"/>
          </a:xfrm>
          <a:prstGeom prst="rect">
            <a:avLst/>
          </a:prstGeom>
          <a:solidFill>
            <a:srgbClr val="2D6A6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89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1828800" cy="8229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389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1828800" cy="822960"/>
          </a:xfrm>
          <a:prstGeom prst="rect">
            <a:avLst/>
          </a:prstGeom>
          <a:solidFill>
            <a:srgbClr val="7C4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89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1828800" cy="822960"/>
          </a:xfrm>
          <a:prstGeom prst="rect">
            <a:avLst/>
          </a:prstGeom>
          <a:solidFill>
            <a:srgbClr val="8B6F4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715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514600"/>
            <a:ext cx="1828800" cy="822960"/>
          </a:xfrm>
          <a:prstGeom prst="rect">
            <a:avLst/>
          </a:prstGeom>
          <a:solidFill>
            <a:srgbClr val="8B3A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715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Geographic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2514600"/>
            <a:ext cx="1828800" cy="822960"/>
          </a:xfrm>
          <a:prstGeom prst="rect">
            <a:avLst/>
          </a:prstGeom>
          <a:solidFill>
            <a:srgbClr val="5C4A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2715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Forecast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514600"/>
            <a:ext cx="1828800" cy="8229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715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Drill-Through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1737360"/>
            <a:ext cx="1920240" cy="82296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810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NAVIGATION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HUB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70332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767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🔲 Bookmark Views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11480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Toggle between Summary &amp; Detail views per dashboard page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11680" y="370332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57400" y="3767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🔍 Drill-Through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57400" y="411480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Right-click any product/customer to open dedicated detail page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94760" y="370332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0" y="3767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📅 Date Slicer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0" y="411480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Synced across all pages — financial year, quarter, month, custom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77840" y="370332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3767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🌐 Region Filter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23560" y="411480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State-level filter panel with Tier-1/2/3 city segmentation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60920" y="370332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06640" y="3767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📊 Q&amp;A Visual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411480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Natural language query bar on KPI Overview homepage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Metrics · Real-Time Business Health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15568"/>
            <a:ext cx="1664208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₹42.3Cr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" y="1920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96E"/>
                </a:solidFill>
              </a:rPr>
              <a:t>↑ 38% YoY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65960" y="111556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15568"/>
            <a:ext cx="1664208" cy="54864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2,85,400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6A6A"/>
                </a:solidFill>
              </a:rPr>
              <a:t>↑ 44% YoY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30752" y="111556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115568"/>
            <a:ext cx="1664208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22.4%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76472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Profit Margin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76472" y="1920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↑ 3.1pp YoY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95544" y="111556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95544" y="1115568"/>
            <a:ext cx="1664208" cy="5486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3" name="Text 21"/>
          <p:cNvSpPr/>
          <p:nvPr/>
        </p:nvSpPr>
        <p:spPr>
          <a:xfrm>
            <a:off x="5586984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41.2%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41264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Retention Rate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41264" y="1920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6F47"/>
                </a:solidFill>
              </a:rPr>
              <a:t>Target: 55%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60336" y="111556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60336" y="1115568"/>
            <a:ext cx="1664208" cy="54864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28" name="Text 26"/>
          <p:cNvSpPr/>
          <p:nvPr/>
        </p:nvSpPr>
        <p:spPr>
          <a:xfrm>
            <a:off x="7351776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74,200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06056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Repeat Customers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06056" y="1920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4A5C"/>
                </a:solidFill>
              </a:rPr>
              <a:t>26% of Base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01168" y="221284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1168" y="2212848"/>
            <a:ext cx="1664208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2350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₹1,482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46888" y="28346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Avg Order Value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6888" y="30175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96E"/>
                </a:solidFill>
              </a:rPr>
              <a:t>↑ 12% YoY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965960" y="221284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965960" y="2212848"/>
            <a:ext cx="1664208" cy="54864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38" name="Text 36"/>
          <p:cNvSpPr/>
          <p:nvPr/>
        </p:nvSpPr>
        <p:spPr>
          <a:xfrm>
            <a:off x="2057400" y="2350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3.8%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011680" y="28346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Conversion Rate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011680" y="30175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6A6A"/>
                </a:solidFill>
              </a:rPr>
              <a:t>Industry: 2.5%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30752" y="221284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30752" y="2212848"/>
            <a:ext cx="1664208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43" name="Text 41"/>
          <p:cNvSpPr/>
          <p:nvPr/>
        </p:nvSpPr>
        <p:spPr>
          <a:xfrm>
            <a:off x="3822192" y="2350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67.3%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776472" y="28346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Cart Abandon Rate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76472" y="30175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3A3A"/>
                </a:solidFill>
              </a:rPr>
              <a:t>↓ 4pp Improved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95544" y="221284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95544" y="2212848"/>
            <a:ext cx="1664208" cy="5486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48" name="Text 46"/>
          <p:cNvSpPr/>
          <p:nvPr/>
        </p:nvSpPr>
        <p:spPr>
          <a:xfrm>
            <a:off x="5586984" y="2350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2.1×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541264" y="28346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Blended ROAS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41264" y="30175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6F47"/>
                </a:solidFill>
              </a:rPr>
              <a:t>Target: 4.5×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260336" y="2212848"/>
            <a:ext cx="16642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60336" y="2212848"/>
            <a:ext cx="1664208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3" name="Text 51"/>
          <p:cNvSpPr/>
          <p:nvPr/>
        </p:nvSpPr>
        <p:spPr>
          <a:xfrm>
            <a:off x="7351776" y="2350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+38%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306056" y="28346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YoY Revenue Growth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06056" y="30175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vs. 22% last yr</a:t>
            </a:r>
            <a:endParaRPr lang="en-US" sz="700" dirty="0"/>
          </a:p>
        </p:txBody>
      </p:sp>
      <p:graphicFrame>
        <p:nvGraphicFramePr>
          <p:cNvPr id="56" name="Chart 0" descr=""/>
          <p:cNvGraphicFramePr/>
          <p:nvPr/>
        </p:nvGraphicFramePr>
        <p:xfrm>
          <a:off x="201168" y="3291840"/>
          <a:ext cx="53035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Chart 1" descr=""/>
          <p:cNvGraphicFramePr/>
          <p:nvPr/>
        </p:nvGraphicFramePr>
        <p:xfrm>
          <a:off x="5669280" y="3291840"/>
          <a:ext cx="3200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Analytics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· Seasonality · Top Categories · Product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01168" y="109728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669280" y="1097280"/>
          <a:ext cx="32004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201168" y="3246120"/>
          <a:ext cx="5303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246120"/>
          <a:ext cx="320040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</a:tblGrid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Season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Revenue Index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Avg AOV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Eid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185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₹1,820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Diwali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₹2,240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New Year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₹1,650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Valentine's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145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₹1,480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Summer Sale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₹1,320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End of Season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₹980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201168" y="4892040"/>
            <a:ext cx="8686800" cy="457200"/>
          </a:xfrm>
          <a:prstGeom prst="rect">
            <a:avLst/>
          </a:prstGeom>
          <a:solidFill>
            <a:srgbClr val="5C4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292608" y="49651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D5B0"/>
                </a:solidFill>
              </a:rPr>
              <a:t>💡 Key Finding: Diwali season alone contributes 19% of annual revenue. Early September stock readiness is critical. Ethnic Wear CAGR 55% outpaces all categories.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Analytics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· Segmentation · Retention · Lifetime Value · Purchase Behaviour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01168" y="1097280"/>
          <a:ext cx="2926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291840" y="1097280"/>
          <a:ext cx="22860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806440" y="109728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806440" y="1097280"/>
            <a:ext cx="64008" cy="8686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6"/>
          <p:cNvSpPr/>
          <p:nvPr/>
        </p:nvSpPr>
        <p:spPr>
          <a:xfrm>
            <a:off x="5916168" y="11521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</a:rPr>
              <a:t>Champions 18%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916168" y="13990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High freq, high spend, recent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916168" y="16916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</a:rPr>
              <a:t>CLV: ₹8,420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360920" y="109728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60920" y="1097280"/>
            <a:ext cx="64008" cy="8686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5" name="Text 11"/>
          <p:cNvSpPr/>
          <p:nvPr/>
        </p:nvSpPr>
        <p:spPr>
          <a:xfrm>
            <a:off x="7470648" y="11521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</a:rPr>
              <a:t>Loyal 24%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470648" y="13990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Regular buyers, moderate spend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7470648" y="16916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7C59"/>
                </a:solidFill>
              </a:rPr>
              <a:t>CLV: ₹4,800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806440" y="2084832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2084832"/>
            <a:ext cx="64008" cy="8686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0" name="Text 16"/>
          <p:cNvSpPr/>
          <p:nvPr/>
        </p:nvSpPr>
        <p:spPr>
          <a:xfrm>
            <a:off x="5916168" y="213969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</a:rPr>
              <a:t>At Risk 22%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916168" y="2386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Was active, now silent 60+ days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916168" y="2679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47"/>
                </a:solidFill>
              </a:rPr>
              <a:t>CLV: ₹3,200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7360920" y="2084832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60920" y="2084832"/>
            <a:ext cx="64008" cy="86868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25" name="Text 21"/>
          <p:cNvSpPr/>
          <p:nvPr/>
        </p:nvSpPr>
        <p:spPr>
          <a:xfrm>
            <a:off x="7470648" y="213969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</a:rPr>
              <a:t>Lost 36%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470648" y="2386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No purchase in 6+ months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470648" y="2679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3A3A"/>
                </a:solidFill>
              </a:rPr>
              <a:t>CLV: ₹1,100</a:t>
            </a:r>
            <a:endParaRPr lang="en-US" sz="75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201168" y="3154680"/>
          <a:ext cx="53035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9" name="Chart 3" descr=""/>
          <p:cNvGraphicFramePr/>
          <p:nvPr/>
        </p:nvGraphicFramePr>
        <p:xfrm>
          <a:off x="5687568" y="3154680"/>
          <a:ext cx="31821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Analytics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· Influencer ROI · CAC · Channel Attribution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01168" y="109728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669280" y="1097280"/>
          <a:ext cx="32004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246120"/>
          <a:ext cx="530352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828800"/>
              </a:tblGrid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Channel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CAC (₹)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LTV:CAC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Email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₹82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14.8×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✅ Excellent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SEO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11.5×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✅ Excellent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WhatsApp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₹118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10.1×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✅ Strong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Meta Ads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₹420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2.8×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⚠️ Borderline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Google Ads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₹385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3.3×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⚠️ Monitor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Influencer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₹310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4.1×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🟡 Improving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87568" y="3246120"/>
          <a:ext cx="3182112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Stage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Users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Conv%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Sessions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2,400K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Product Views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920K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38.3%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Add to Cart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340K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37.0%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Checkout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148K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43.5%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Purchase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91K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61.5%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201168" y="4892040"/>
            <a:ext cx="8686800" cy="457200"/>
          </a:xfrm>
          <a:prstGeom prst="rect">
            <a:avLst/>
          </a:prstGeom>
          <a:solidFill>
            <a:srgbClr val="5C4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292608" y="49651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D5B0"/>
                </a:solidFill>
              </a:rPr>
              <a:t>💡 Email + WhatsApp deliver 12× better ROAS than paid social. Shifting 20% of Meta budget to owned channels could save ₹1.4Cr annually while improving ROAS by ~40%.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Analytics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Health · Warehouse · Fast vs. Slow Movers · Reorder Intelligence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16642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15568"/>
            <a:ext cx="1664208" cy="54864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4,200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Total Active SKUs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65960" y="1115568"/>
            <a:ext cx="16642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1115568"/>
            <a:ext cx="1664208" cy="548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91.2%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In-Stock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752" y="1115568"/>
            <a:ext cx="16642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1115568"/>
            <a:ext cx="1664208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3822192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34%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76472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Dead Stock Ratio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95544" y="1115568"/>
            <a:ext cx="16642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95544" y="1115568"/>
            <a:ext cx="1664208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5.8×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41264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Avg Inventory Turns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60336" y="1115568"/>
            <a:ext cx="16642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60336" y="1115568"/>
            <a:ext cx="1664208" cy="5486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4" name="Text 22"/>
          <p:cNvSpPr/>
          <p:nvPr/>
        </p:nvSpPr>
        <p:spPr>
          <a:xfrm>
            <a:off x="7351776" y="12527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₹6.2Cr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06056" y="17373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90"/>
                </a:solidFill>
              </a:rPr>
              <a:t>Working Capital Tied</a:t>
            </a:r>
            <a:endParaRPr lang="en-US" sz="8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01168" y="214884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5669280" y="2148840"/>
          <a:ext cx="32004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4160520"/>
          <a:ext cx="8686800" cy="86868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  <a:gridCol w="3291840"/>
              </a:tblGrid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</a:rPr>
                        <a:t>⚠️ Alert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</a:rPr>
                        <a:t>SKUs Affected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</a:rPr>
                        <a:t>Revenue at Risk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</a:rPr>
                        <a:t>Action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Stockout Risk (&lt; 5 days)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148 SKUs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₹92 Lakhs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Emergency reorder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Dead Stock (&gt; 180 days)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1,428 SKUs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₹6.2 Crore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Flash sale clearance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Slow Movers (60-180d)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294 SKUs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₹2.8 Crore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Bundle or discount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Overstock (&gt; 3× reorder)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382 SKUs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₹3.4 Crore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</a:rPr>
                        <a:t>Halt procurement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Analysis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· City Tiers · Location Trends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115568"/>
          <a:ext cx="5303520" cy="2194560"/>
        </p:xfrm>
        <a:graphic>
          <a:graphicData uri="http://schemas.openxmlformats.org/drawingml/2006/table">
            <a:tbl>
              <a:tblPr/>
              <a:tblGrid>
                <a:gridCol w="1280160"/>
                <a:gridCol w="1051560"/>
                <a:gridCol w="868680"/>
                <a:gridCol w="777240"/>
                <a:gridCol w="713232"/>
                <a:gridCol w="61264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State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Revenue (₹Cr)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Orders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AOV (₹)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Return%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A96E"/>
                          </a:solidFill>
                        </a:rPr>
                        <a:t>Growth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Maharashtra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9.8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62,400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1,571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8.2%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42%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Karnataka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7.2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48,200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1,494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7.8%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55%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Delhi NCR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6.8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44,100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1,542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9.1%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38%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Tamil Nadu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5.4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37,600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1,436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7.2%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48%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Telangana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4.9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33,800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1,450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7.5%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61%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West Bengal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3.2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22,100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1,448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8.8%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34%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Gujarat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2.8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19,400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1,443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</a:rPr>
                        <a:t>6.9%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7C59"/>
                          </a:solidFill>
                        </a:rPr>
                        <a:t>↑ 44%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201168" y="3429000"/>
          <a:ext cx="5303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11556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0" y="1115568"/>
            <a:ext cx="64008" cy="80467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6"/>
          <p:cNvSpPr/>
          <p:nvPr/>
        </p:nvSpPr>
        <p:spPr>
          <a:xfrm>
            <a:off x="580644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9590"/>
                </a:solidFill>
              </a:rPr>
              <a:t>Fastest Growing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80644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4+ Cities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0644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C59"/>
                </a:solidFill>
              </a:rPr>
              <a:t>+120% YoY — Pin-code expansion opportunity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669280" y="202996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69280" y="2029968"/>
            <a:ext cx="64008" cy="80467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1"/>
          <p:cNvSpPr/>
          <p:nvPr/>
        </p:nvSpPr>
        <p:spPr>
          <a:xfrm>
            <a:off x="5806440" y="2103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9590"/>
                </a:solidFill>
              </a:rPr>
              <a:t>Highest AOV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80644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Maharashtra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80644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96E"/>
                </a:solidFill>
              </a:rPr>
              <a:t>₹1,571 avg order — Premium segment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669280" y="294436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2944368"/>
            <a:ext cx="64008" cy="804672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0" name="Text 16"/>
          <p:cNvSpPr/>
          <p:nvPr/>
        </p:nvSpPr>
        <p:spPr>
          <a:xfrm>
            <a:off x="5806440" y="3017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9590"/>
                </a:solidFill>
              </a:rPr>
              <a:t>Lowest Returns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8064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Gujarat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806440" y="3493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6A6A"/>
                </a:solidFill>
              </a:rPr>
              <a:t>6.9% return rate — quality-conscious buyers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5669280" y="385876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669280" y="3858768"/>
            <a:ext cx="64008" cy="804672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5" name="Text 21"/>
          <p:cNvSpPr/>
          <p:nvPr/>
        </p:nvSpPr>
        <p:spPr>
          <a:xfrm>
            <a:off x="580644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9590"/>
                </a:solidFill>
              </a:rPr>
              <a:t>Untapped Markets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80644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India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806440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6F47"/>
                </a:solidFill>
              </a:rPr>
              <a:t>&lt; 0.5% revenue share vs 4.5% population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Forecasting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 · Demand Planning · Anomaly Detection · Trend Prediction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01168" y="109728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15000" y="1115568"/>
            <a:ext cx="14447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115568"/>
            <a:ext cx="1444752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6"/>
          <p:cNvSpPr/>
          <p:nvPr/>
        </p:nvSpPr>
        <p:spPr>
          <a:xfrm>
            <a:off x="5788152" y="120700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🤖 AutoML Forecast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88152" y="14813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D6A6A"/>
                </a:solidFill>
              </a:rPr>
              <a:t>Azure ML + Power BI AI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78815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2D2D"/>
                </a:solidFill>
              </a:rPr>
              <a:t>Time-series forecasting with ARIMA + Prophet hybrid. Confidence intervals computed across 1,000 Monte Carlo simulations.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788152" y="215798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91.3% MAPE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269480" y="1115568"/>
            <a:ext cx="14447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69480" y="1115568"/>
            <a:ext cx="1444752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7342632" y="120700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📦 Demand Sensing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342632" y="14813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D6A6A"/>
                </a:solidFill>
              </a:rPr>
              <a:t>Random Forest + LSTM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734263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2D2D"/>
                </a:solidFill>
              </a:rPr>
              <a:t>SKU-level demand forecasting 30/60/90 days out. Incorporates trend, seasonality, promotions &amp; search signals.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7342632" y="215798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88.7% accuracy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715000" y="2505456"/>
            <a:ext cx="14447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2505456"/>
            <a:ext cx="1444752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8"/>
          <p:cNvSpPr/>
          <p:nvPr/>
        </p:nvSpPr>
        <p:spPr>
          <a:xfrm>
            <a:off x="5788152" y="259689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🚨 Anomaly Detection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88152" y="28712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D6A6A"/>
                </a:solidFill>
              </a:rPr>
              <a:t>Isolation Forest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788152" y="307238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2D2D"/>
                </a:solidFill>
              </a:rPr>
              <a:t>Real-time flagging of revenue drops, unusual return spikes, and suspicious order clusters. Daily alerts via Teams.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788152" y="354787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&lt; 2% false positive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269480" y="2505456"/>
            <a:ext cx="14447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269480" y="2505456"/>
            <a:ext cx="1444752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7" name="Text 24"/>
          <p:cNvSpPr/>
          <p:nvPr/>
        </p:nvSpPr>
        <p:spPr>
          <a:xfrm>
            <a:off x="7342632" y="259689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</a:rPr>
              <a:t>👤 Churn Prediction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42632" y="28712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D6A6A"/>
                </a:solidFill>
              </a:rPr>
              <a:t>XGBoost Classifier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7342632" y="307238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2D2D"/>
                </a:solidFill>
              </a:rPr>
              <a:t>Identifies customers with &gt;70% churn probability 30 days before lapse. Triggers automated re-engagement flows.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7342632" y="354787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C59"/>
                </a:solidFill>
              </a:rPr>
              <a:t>84.2% precision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01168" y="3337560"/>
            <a:ext cx="5303520" cy="1600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29"/>
          <p:cNvSpPr/>
          <p:nvPr/>
        </p:nvSpPr>
        <p:spPr>
          <a:xfrm>
            <a:off x="32004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Power BI AI Visuals Deployed: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0040" y="3703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→  Key Influencers visual: identifies top drivers of high/low AOV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0040" y="39410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→  Decomposition Tree: breaks revenue down by region, category, channel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20040" y="41788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→  Smart Narrative: auto-generates plain English insight summaries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20040" y="44165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→  Q&amp;A Natural Language: stakeholders query data via chatbot on KPI page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20040" y="46542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→  Anomaly Detection: built-in line chart outlier flagging (Power BI Premium)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Measures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</a:rPr>
              <a:t>Professional DAX Formulas for Production Power BI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YoY Revenue Growth 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49961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YoY Growth %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Revenue] - [Revenue LY], [Revenue LY])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Customer Retention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49961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 Rate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DIVIDE(CALCULATE([Active Customers],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KEEPFILTERS([Orders].[IsRepeat]=TRUE)), [Active Customers LY])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39572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Rolling 3-Month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77977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3M Rev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DATESINPERIOD('Date'[Date], LASTDATE('Date'[Date]), -3, MONTH))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Cumulative Revenue (YTD)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77977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YTD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 DATESYTD('Date'[Date]))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367588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Profit Margin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405993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 %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Revenue] - [Total COGS] - [Total Returns], [Total Revenue])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675888"/>
            <a:ext cx="4206240" cy="1170432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6E"/>
                </a:solidFill>
              </a:rPr>
              <a:t>Customer Lifetime Value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4023360"/>
            <a:ext cx="4023360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4059936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CLV = [Avg Order Value] * [Avg Annual Frequency] * [Avg Customer Lifespan]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 — StyleNest Competitive Position FY2025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9768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15568"/>
            <a:ext cx="4297680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Strong brand recall in 18–28 urban female segment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38328" y="18288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Mobile-first app with 4.6★ rating, 1.2M downloads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38328" y="20848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Private label margins 2× higher than marketplace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38328" y="234086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Data infrastructure and real-time BI capability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38328" y="259689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StyleBox subscription: predictable recurring revenue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73168" y="1115568"/>
            <a:ext cx="429768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8B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115568"/>
            <a:ext cx="4297680" cy="384048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15727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Low retention rate (41%) vs category benchmark (62%)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34% dead stock — working capital misallocated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10328" y="20848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Supply chain concentrated in 3 vendors (risk)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910328" y="234086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No offline presence limits top-of-funnel discovery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910328" y="259689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Limited men's range — underserving 50% of market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01168" y="3017520"/>
            <a:ext cx="429768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017520"/>
            <a:ext cx="4297680" cy="384048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" y="3090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4747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Tier 2-4 cities growing at 82-120% YoY — underpenetrated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38328" y="37307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Social commerce via Instagram &amp; Meesho: ₹1.4Tn market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38328" y="39867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B2B wholesale to boutiques: ₹15Cr addressable market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38328" y="42428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AI personalization to lift AOV by estimated 18-24%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38328" y="44988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GCC diaspora: 8M+ Indian expats — premium segment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773168" y="3017520"/>
            <a:ext cx="429768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8B6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3017520"/>
            <a:ext cx="4297680" cy="38404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090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4747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Myntra / Ajio deep discounting compresses margins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910328" y="37307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Instagram algorithm changes hurting organic reach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910328" y="39867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Rising fabric costs +22% — margin pressure on private label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910328" y="42428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Quick commerce (Blinkit) expanding into fashion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910328" y="44988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2D2D"/>
                </a:solidFill>
              </a:rPr>
              <a:t>·  GenAI enabling copycat designs within 48 hrs of launch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 rot="16200000">
            <a:off x="4160520" y="1115568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9590"/>
                </a:solidFill>
              </a:rPr>
              <a:t>Internal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 rot="16200000">
            <a:off x="4160520" y="3017520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9590"/>
                </a:solidFill>
              </a:rPr>
              <a:t>External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Initiatives to Achieve ₹61Cr Revenue &amp; 55% Retention by FY26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0972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97280"/>
            <a:ext cx="2834640" cy="6400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188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Retention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554480"/>
            <a:ext cx="777240" cy="2560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+₹8.4Cr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15568" y="155448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1554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Medium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01368" y="155448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1801368" y="15544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Q1 FY26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92608" y="184708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190195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Launch RFM-triggered win-back flows (email + WhatsApp). Offer personalised incentives to 'At Risk' segment. StyleBox trial to Champions. Target: raise retention from 41% → 55%.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182112" y="10972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1097280"/>
            <a:ext cx="2834640" cy="64008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188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Inventory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73552" y="1554480"/>
            <a:ext cx="777240" cy="256032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+₹6.2Cr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96512" y="155448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554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High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82312" y="155448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15544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Q2 FY26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73552" y="184708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190195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Deploy ML demand forecasting at SKU level. Set dynamic reorder points. Clear dead stock via flash sales. Target: reduce dead stock ratio from 34% → &lt;10%.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163056" y="10972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1097280"/>
            <a:ext cx="2834640" cy="6400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188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38544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Pricing Optimisation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1554480"/>
            <a:ext cx="777240" cy="2560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+₹4.8Cr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77456" y="155448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7" name="Text 35"/>
          <p:cNvSpPr/>
          <p:nvPr/>
        </p:nvSpPr>
        <p:spPr>
          <a:xfrm>
            <a:off x="7077456" y="1554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Low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763256" y="155448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9" name="Text 37"/>
          <p:cNvSpPr/>
          <p:nvPr/>
        </p:nvSpPr>
        <p:spPr>
          <a:xfrm>
            <a:off x="7763256" y="15544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Q1 FY26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54496" y="184708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190195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Implement dynamic pricing on bestsellers (+8-12% uplift). Bundle slow movers with heroes. Introduce premium tier pricing for limited drops.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01168" y="3063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063240"/>
            <a:ext cx="2834640" cy="6400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31546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6656" y="3172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Channel Rebalance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" y="3520440"/>
            <a:ext cx="777240" cy="256032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+₹3.2Cr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15568" y="352044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49" name="Text 47"/>
          <p:cNvSpPr/>
          <p:nvPr/>
        </p:nvSpPr>
        <p:spPr>
          <a:xfrm>
            <a:off x="1115568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Low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801368" y="352044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51" name="Text 49"/>
          <p:cNvSpPr/>
          <p:nvPr/>
        </p:nvSpPr>
        <p:spPr>
          <a:xfrm>
            <a:off x="1801368" y="35204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Q1 FY26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92608" y="381304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38679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Shift 20% Meta budget → Email/WhatsApp. Launch affiliate programme. Invest in SEO content hub targeting 200 high-intent fashion keywords.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3182112" y="3063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82112" y="3063240"/>
            <a:ext cx="2834640" cy="64008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56" name="Text 54"/>
          <p:cNvSpPr/>
          <p:nvPr/>
        </p:nvSpPr>
        <p:spPr>
          <a:xfrm>
            <a:off x="3273552" y="31546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657600" y="3172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Tier 2+ Expansion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73552" y="3520440"/>
            <a:ext cx="777240" cy="256032"/>
          </a:xfrm>
          <a:prstGeom prst="rect">
            <a:avLst/>
          </a:prstGeom>
          <a:solidFill>
            <a:srgbClr val="7C4A5C"/>
          </a:solidFill>
          <a:ln/>
        </p:spPr>
      </p:sp>
      <p:sp>
        <p:nvSpPr>
          <p:cNvPr id="59" name="Text 57"/>
          <p:cNvSpPr/>
          <p:nvPr/>
        </p:nvSpPr>
        <p:spPr>
          <a:xfrm>
            <a:off x="3273552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+₹5.5Cr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096512" y="352044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1" name="Text 59"/>
          <p:cNvSpPr/>
          <p:nvPr/>
        </p:nvSpPr>
        <p:spPr>
          <a:xfrm>
            <a:off x="4096512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Medium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782312" y="352044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3" name="Text 61"/>
          <p:cNvSpPr/>
          <p:nvPr/>
        </p:nvSpPr>
        <p:spPr>
          <a:xfrm>
            <a:off x="4782312" y="35204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Q3 FY26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73552" y="381304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5" name="Text 63"/>
          <p:cNvSpPr/>
          <p:nvPr/>
        </p:nvSpPr>
        <p:spPr>
          <a:xfrm>
            <a:off x="3273552" y="38679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Regional language app (Hindi, Tamil, Telugu). Vernacular influencers. Partner with Meesho/Flipkart for Tier 3+ distribution reach.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63056" y="3063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63056" y="3063240"/>
            <a:ext cx="2834640" cy="64008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68" name="Text 66"/>
          <p:cNvSpPr/>
          <p:nvPr/>
        </p:nvSpPr>
        <p:spPr>
          <a:xfrm>
            <a:off x="6254496" y="31546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38544" y="3172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AI Personalisation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54496" y="3520440"/>
            <a:ext cx="777240" cy="256032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71" name="Text 69"/>
          <p:cNvSpPr/>
          <p:nvPr/>
        </p:nvSpPr>
        <p:spPr>
          <a:xfrm>
            <a:off x="6254496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+₹4.2Cr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077456" y="3520440"/>
            <a:ext cx="640080" cy="256032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73" name="Text 71"/>
          <p:cNvSpPr/>
          <p:nvPr/>
        </p:nvSpPr>
        <p:spPr>
          <a:xfrm>
            <a:off x="7077456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2D2D"/>
                </a:solidFill>
              </a:rPr>
              <a:t>High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763256" y="3520440"/>
            <a:ext cx="749808" cy="25603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5" name="Text 73"/>
          <p:cNvSpPr/>
          <p:nvPr/>
        </p:nvSpPr>
        <p:spPr>
          <a:xfrm>
            <a:off x="7763256" y="35204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F47"/>
                </a:solidFill>
              </a:rPr>
              <a:t>Q4 FY26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254496" y="3813048"/>
            <a:ext cx="26517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77" name="Text 75"/>
          <p:cNvSpPr/>
          <p:nvPr/>
        </p:nvSpPr>
        <p:spPr>
          <a:xfrm>
            <a:off x="6254496" y="38679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</a:rPr>
              <a:t>Deploy recommendation engine on homepage &amp; cart. Personalised size suggestions. AI styling assistant to reduce returns. Target: AOV uplift of 18%.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StyleNest 3-Year Technology &amp; Business Growth Trajectory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283464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2834640" cy="7772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Q1–Q2 FY26  |  Foundation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01168" cy="20116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0208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Power BI Premium deployment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633472"/>
            <a:ext cx="201168" cy="20116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RFM retention engine 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200400"/>
            <a:ext cx="201168" cy="20116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Demand forecasting ML model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630168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767328"/>
            <a:ext cx="201168" cy="20116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7216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Email + WhatsApp automation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197096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4334256"/>
            <a:ext cx="201168" cy="20116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2885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Dynamic pricing pilot (50 SKUs)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1115568"/>
            <a:ext cx="283464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115568"/>
            <a:ext cx="2834640" cy="777240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375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Q3–Q4 FY26  |  Scale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2066544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29" name="Text 27"/>
          <p:cNvSpPr/>
          <p:nvPr/>
        </p:nvSpPr>
        <p:spPr>
          <a:xfrm>
            <a:off x="3675888" y="20208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AI recommendation engine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2496312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1" name="Shape 29"/>
          <p:cNvSpPr/>
          <p:nvPr/>
        </p:nvSpPr>
        <p:spPr>
          <a:xfrm>
            <a:off x="3383280" y="2633472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32" name="Text 30"/>
          <p:cNvSpPr/>
          <p:nvPr/>
        </p:nvSpPr>
        <p:spPr>
          <a:xfrm>
            <a:off x="3675888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Tier 2-4 vernacular app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3063240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4" name="Shape 32"/>
          <p:cNvSpPr/>
          <p:nvPr/>
        </p:nvSpPr>
        <p:spPr>
          <a:xfrm>
            <a:off x="3383280" y="3200400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35" name="Text 33"/>
          <p:cNvSpPr/>
          <p:nvPr/>
        </p:nvSpPr>
        <p:spPr>
          <a:xfrm>
            <a:off x="3675888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B2B wholesale portal launch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0" y="3630168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7" name="Shape 35"/>
          <p:cNvSpPr/>
          <p:nvPr/>
        </p:nvSpPr>
        <p:spPr>
          <a:xfrm>
            <a:off x="3383280" y="3767328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38" name="Text 36"/>
          <p:cNvSpPr/>
          <p:nvPr/>
        </p:nvSpPr>
        <p:spPr>
          <a:xfrm>
            <a:off x="3675888" y="37216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Affiliate &amp; creator programme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0" y="4197096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40" name="Shape 38"/>
          <p:cNvSpPr/>
          <p:nvPr/>
        </p:nvSpPr>
        <p:spPr>
          <a:xfrm>
            <a:off x="3383280" y="4334256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</p:sp>
      <p:sp>
        <p:nvSpPr>
          <p:cNvPr id="41" name="Text 39"/>
          <p:cNvSpPr/>
          <p:nvPr/>
        </p:nvSpPr>
        <p:spPr>
          <a:xfrm>
            <a:off x="3675888" y="42885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Social commerce (Instagram Shop)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1115568"/>
            <a:ext cx="283464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1115568"/>
            <a:ext cx="2834640" cy="7772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FY27  |  Differentiate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2066544"/>
            <a:ext cx="201168" cy="20116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47" name="Text 45"/>
          <p:cNvSpPr/>
          <p:nvPr/>
        </p:nvSpPr>
        <p:spPr>
          <a:xfrm>
            <a:off x="6647688" y="20208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AR Virtual Try-On feature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2496312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2633472"/>
            <a:ext cx="201168" cy="20116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50" name="Text 48"/>
          <p:cNvSpPr/>
          <p:nvPr/>
        </p:nvSpPr>
        <p:spPr>
          <a:xfrm>
            <a:off x="6647688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StyleBox subscription at scale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46520" y="3063240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2" name="Shape 50"/>
          <p:cNvSpPr/>
          <p:nvPr/>
        </p:nvSpPr>
        <p:spPr>
          <a:xfrm>
            <a:off x="6355080" y="3200400"/>
            <a:ext cx="201168" cy="20116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53" name="Text 51"/>
          <p:cNvSpPr/>
          <p:nvPr/>
        </p:nvSpPr>
        <p:spPr>
          <a:xfrm>
            <a:off x="6647688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Omnichannel: 10 experience stores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46520" y="3630168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5" name="Shape 53"/>
          <p:cNvSpPr/>
          <p:nvPr/>
        </p:nvSpPr>
        <p:spPr>
          <a:xfrm>
            <a:off x="6355080" y="3767328"/>
            <a:ext cx="201168" cy="20116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56" name="Text 54"/>
          <p:cNvSpPr/>
          <p:nvPr/>
        </p:nvSpPr>
        <p:spPr>
          <a:xfrm>
            <a:off x="6647688" y="37216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GCC international expansion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46520" y="4197096"/>
            <a:ext cx="36576" cy="10972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8" name="Shape 56"/>
          <p:cNvSpPr/>
          <p:nvPr/>
        </p:nvSpPr>
        <p:spPr>
          <a:xfrm>
            <a:off x="6355080" y="4334256"/>
            <a:ext cx="201168" cy="201168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59" name="Text 57"/>
          <p:cNvSpPr/>
          <p:nvPr/>
        </p:nvSpPr>
        <p:spPr>
          <a:xfrm>
            <a:off x="6647688" y="42885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Predictive personal stylist AI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01168" y="4754880"/>
            <a:ext cx="87416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1" name="Text 59"/>
          <p:cNvSpPr/>
          <p:nvPr/>
        </p:nvSpPr>
        <p:spPr>
          <a:xfrm>
            <a:off x="201168" y="4754880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96E"/>
                </a:solidFill>
              </a:rPr>
              <a:t>Vision 2027: India's #1 Data-Driven Fashion Brand  ·  ₹200Cr GMV  ·  2M Customers  ·  EBITDA Positive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93392"/>
            <a:ext cx="914400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STYLENEST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1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Intelligence. Data-Driven Growth.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463040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₹42.3Cr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Current GMV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2286000"/>
            <a:ext cx="1463040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2,85K+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Annual Orders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1463040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₹61Cr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FY26 Target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2286000"/>
            <a:ext cx="1463040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ML Models Active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32320" y="2286000"/>
            <a:ext cx="1463040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Pages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F"/>
                </a:solidFill>
              </a:rPr>
              <a:t>BI Dashboard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E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DF"/>
                </a:solidFill>
              </a:rPr>
              <a:t>→  StyleNest is a high-growth fashion ecommerce brand with proven GMV traction and strong brand affinity in urban India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DF"/>
                </a:solidFill>
              </a:rPr>
              <a:t>→  The Power BI ecosystem provides end-to-end visibility: from SKU-level inventory alerts to cohort retention curves and AI revenue forecasts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DF"/>
                </a:solidFill>
              </a:rPr>
              <a:t>→  Six data-backed strategic recommendations with combined ₹32Cr incremental revenue potential are ready for immediate execution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DF"/>
                </a:solidFill>
              </a:rPr>
              <a:t>→  Phase 1 initiatives (retention engine + inventory AI) have 6-month payback periods — de-risking the investment case significantly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4956048"/>
            <a:ext cx="2743200" cy="27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590"/>
                </a:solidFill>
              </a:rPr>
              <a:t>© 2025 StyleNest  ·  Confidential &amp; Proprietary  ·  Prepared by StyleNest Analytics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Case Study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for Resume · LinkedIn · Business Analyst Interviews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115568"/>
            <a:ext cx="4206240" cy="384048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15568"/>
            <a:ext cx="4206240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0A0A"/>
                </a:solidFill>
              </a:rPr>
              <a:t>RESUME-READY PROJECT BULLET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4DF"/>
                </a:solidFill>
              </a:rPr>
              <a:t>·  Engineered a 19-page Power BI dashboard ecosystem for StyleNest, a fashion D2C brand (₹42Cr GMV), ingesting 285K+ order records across 6 data tables in a star-schema data model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20040" y="2258568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4DF"/>
                </a:solidFill>
              </a:rPr>
              <a:t>·  Built 40+ DAX measures including YoY growth, cohort retention curves, rolling averages, and cumulative YTD revenue for executive KPI reporting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4DF"/>
                </a:solidFill>
              </a:rPr>
              <a:t>·  Deployed ML-powered forecasting (ARIMA + Prophet hybrid) achieving 91.3% accuracy; integrated churn prediction model identifying at-risk customers 30 days pre-lapse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20040" y="3575304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4DF"/>
                </a:solidFill>
              </a:rPr>
              <a:t>·  Identified ₹32Cr in incremental revenue opportunities across 6 strategic initiatives; dead-stock root cause reduced simulated dead stock ratio from 34% → 10%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0040" y="4233672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4DF"/>
                </a:solidFill>
              </a:rPr>
              <a:t>·  Designed drill-through pages, bookmarks, and Q&amp;A natural language visuals enabling non-technical stakeholders to self-serve insights; reduced report request backlog by ~60%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572000" y="1115568"/>
            <a:ext cx="43159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115568"/>
            <a:ext cx="4315968" cy="365760"/>
          </a:xfrm>
          <a:prstGeom prst="rect">
            <a:avLst/>
          </a:prstGeom>
          <a:solidFill>
            <a:srgbClr val="2D6A6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LINKEDIN PROJECT DESCRIPTION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81728" y="1517904"/>
            <a:ext cx="41330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🛍️ StyleNest Power BI Dashboard | Fashion Ecommerce Analytics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Built an investor-grade 19-page Power BI report for a ₹42Cr fashion D2C brand covering KPIs, sales trends, customer cohort analysis, marketing attribution, inventory health, geo analysis, and AI forecasting. Delivered 6 strategic recommendations with ₹32Cr revenue impact identified through data.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</a:rPr>
              <a:t>#PowerBI #DataAnalytics #FashionTech #BusinessAnalysis #DAX #MLForecasting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0" y="2944368"/>
            <a:ext cx="4315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944368"/>
            <a:ext cx="4315968" cy="365760"/>
          </a:xfrm>
          <a:prstGeom prst="rect">
            <a:avLst/>
          </a:prstGeom>
          <a:solidFill>
            <a:srgbClr val="5C4A2A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2990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</a:rPr>
              <a:t>BUSINESS ANALYST INTERVIEW GUIDE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81728" y="338328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47"/>
                </a:solidFill>
              </a:rPr>
              <a:t>Walk me through this project: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81728" y="354787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2D2D2D"/>
                </a:solidFill>
              </a:rPr>
              <a:t>"I built a comprehensive BI solution for a fashion ecommerce brand from dataset design through strategic recommendations — covering data modelling, KPI frameworks, customer analytics, and ML forecasting."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681728" y="3904488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47"/>
                </a:solidFill>
              </a:rPr>
              <a:t>What was your biggest challenge?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81728" y="406908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2D2D2D"/>
                </a:solidFill>
              </a:rPr>
              <a:t>"Modelling seasonal demand volatility in DAX while keeping report performance under 3-second load time. I solved it using aggregation tables and incremental refresh."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681728" y="4425696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47"/>
                </a:solidFill>
              </a:rPr>
              <a:t>What impact did you deliver?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1728" y="459028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2D2D2D"/>
                </a:solidFill>
              </a:rPr>
              <a:t>"The dead stock analysis alone identified ₹6.2Cr of trapped working capital. The retention model flagged 22K 'at risk' customers for re-engagement — estimated recovery value ₹8.4Cr."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StyleNest — Power BI Business Intelligence Report</dc:title>
  <dc:subject>PptxGenJS Presentation</dc:subject>
  <dc:creator>StyleNest Analytics Team</dc:creator>
  <cp:lastModifiedBy>StyleNest Analytics Team</cp:lastModifiedBy>
  <cp:revision>1</cp:revision>
  <dcterms:created xsi:type="dcterms:W3CDTF">2026-05-19T08:08:13Z</dcterms:created>
  <dcterms:modified xsi:type="dcterms:W3CDTF">2026-05-19T08:08:13Z</dcterms:modified>
</cp:coreProperties>
</file>